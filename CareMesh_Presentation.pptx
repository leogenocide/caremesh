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371600"/>
            <a:ext cx="3474720" cy="411480"/>
          </a:xfrm>
          <a:prstGeom prst="roundRect">
            <a:avLst>
              <a:gd name="adj" fmla="val 44444"/>
            </a:avLst>
          </a:prstGeom>
          <a:solidFill>
            <a:srgbClr val="065F46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17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INFRASTRUCTURE &amp; MUTUAL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Grassroots Observations into Verifiable, Transparent Collective Action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technical briefing on platform objectives, epistemic trust architecture, explainable matching algorithms, deliberative planning lifecycles, and full technology stack justifications.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4663440"/>
            <a:ext cx="10332720" cy="1463040"/>
          </a:xfrm>
          <a:prstGeom prst="roundRect">
            <a:avLst>
              <a:gd name="adj" fmla="val 9375"/>
            </a:avLst>
          </a:prstGeom>
          <a:solidFill>
            <a:srgbClr val="04785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800600"/>
            <a:ext cx="9784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Observations  •  Explainable Matcher  •  Deliberative Plans  •  Institutional Memory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 8, React Router 7, Leaflet, Node.js, Express 5, Better-SQLite3 (WAL Mode), JWT, Bcrypt
</a:t>
            </a:r>
            <a:pPr indent="0" marL="0">
              <a:lnSpc>
                <a:spcPts val="18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Philosophy: 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Transparency, Epistemic Rigor, Zero-Cost Offline Resilience, Zero Black-Box Bias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Space: Why Conventional Civic Coordination Fails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the four critical breakdown points in grassroots mutual aid and disaster response.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Platform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Civic Coordination &amp; Mutual 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737360"/>
            <a:ext cx="4754880" cy="3200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Misinformation &amp; Stale Rumors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social media feeds (Facebook, Nextdoor, WhatsApp) amplify outdated claims and unverified alerts with zero provenance chains or contradiction tracking.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737360"/>
            <a:ext cx="4754880" cy="3200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Opaque &amp; Inefficient Allocation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1945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and supplies are coordinated via disorganized comment threads, leading to severe resource mismatches, geographic blindspots, and unmet urgent needs.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023360"/>
            <a:ext cx="4754880" cy="3200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Unstructured Deliberation &amp; Plans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4805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initiatives collapse due to lack of iterative consensus, version control, milestone accountability, and transparent feedback incorporation.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840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4023360"/>
            <a:ext cx="4754880" cy="3200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Amnesic Institutional Memory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448056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crises conclude, valuable lessons and operational blueprints vanish. Future responders repeatedly make the exact same logistical mistakes.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Mission &amp; Core Objectives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an epistemic chain of trust and structured operational workflows for community empowerment.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Platform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Civic Coordination &amp; Mutual 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560320" cy="4572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256032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Chain of Trust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2194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 casual posts into structured Observations and challengeable Claims.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 verifiable evidence (photos, sensor logs, reports) with provenance chains.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structured dispute resolution with active challenge &amp; contradiction audits.
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1554480"/>
            <a:ext cx="2560320" cy="4572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554480"/>
            <a:ext cx="25603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Matching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11880" y="2377440"/>
            <a:ext cx="2194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Multi-factor matching: Haversine proximity, skill overlap, resource condition &amp; terms.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 black-box AI bias with transparent Pass/Warn/Fail scorecards and reasoning.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Rapidly route high-urgency rescue &amp; relief requests to nearby capable providers.
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2560320" cy="4572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554480"/>
            <a:ext cx="256032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Deliberative Plan Lifecycles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377440"/>
            <a:ext cx="2194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Formal stages: Draft -&gt; Community Review -&gt; Revised -&gt; Accepted -&gt; Active -&gt; Completed.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Classify feedback into structured types (Risks, Alternatives, Critiques, Evidence).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 an immutable decision log with explicit versioning and rationale.
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23960" y="1554480"/>
            <a:ext cx="2560320" cy="457200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23960" y="1554480"/>
            <a:ext cx="256032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891540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 Engine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06840" y="2377440"/>
            <a:ext cx="2194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 actual post-intervention outcomes against initial goals with empirical metrics.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Codify structured lessons learned with applicability tags and confidence scores.
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Automatically surface proactive guidance and checklists during new plan creation.
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The 5 Interlocking Pillars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initial sensory observation to codified institutional guidance: A closed-loop civic intelligence lifecycle.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Platform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Civic Coordination &amp; Mutual 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2057400" cy="43891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828800"/>
            <a:ext cx="1783080" cy="3200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8745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OBSERVE &amp; VERIFY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Mesh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788920"/>
            <a:ext cx="1783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logged with media, location &amp; multi-source evidence. Claims challenged via structured disputes.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880360" y="1645920"/>
            <a:ext cx="2057400" cy="43891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1828800"/>
            <a:ext cx="1783080" cy="3200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6" name="Text 14"/>
          <p:cNvSpPr/>
          <p:nvPr/>
        </p:nvSpPr>
        <p:spPr>
          <a:xfrm>
            <a:off x="3063240" y="18745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DELIBERATE &amp; PLAN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17520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Plans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2788920"/>
            <a:ext cx="1783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drafts iterative plans, files categorized critiques, reviews risks, and logs revision decisions.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0" y="1645920"/>
            <a:ext cx="2057400" cy="43891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1828800"/>
            <a:ext cx="1783080" cy="3200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18745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MATCH &amp; ALLOCATE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66360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Matcher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2788920"/>
            <a:ext cx="1783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5-factor proximity, capability, and availability engine scores requests vs volunteer resources with full audit trails.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78040" y="1645920"/>
            <a:ext cx="2057400" cy="43891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828800"/>
            <a:ext cx="1783080" cy="3200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6" name="Text 24"/>
          <p:cNvSpPr/>
          <p:nvPr/>
        </p:nvSpPr>
        <p:spPr>
          <a:xfrm>
            <a:off x="7360920" y="18745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MOBILIZE &amp; EXECUTE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&amp; Coordination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0" y="2788920"/>
            <a:ext cx="1783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project operations, task milestones, interactive map dispatch, and group chat synchronization.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326880" y="1645920"/>
            <a:ext cx="2057400" cy="43891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64040" y="1828800"/>
            <a:ext cx="1783080" cy="3200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9509760" y="18745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LEARN &amp; PRESERVE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464040" y="2286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Guidance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464040" y="2788920"/>
            <a:ext cx="1783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Post-action outcomes evaluation extracts lessons learned, updating future guidance checklists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VERIFICATION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Epistemic Chain of Trust &amp; Verification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rumors and panic during civic emergencies through verifiable multi-source evidence.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Platform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Civic Coordination &amp; Mutual 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Verification Entities &amp; Schema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Observations: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Time-stamped, geocoded reports categorized into safety, infrastructure, resources, or environmental events.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Claims &amp; Assertions: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factual propositions extracted from observations, assigned explicit verification statuses (Reported, Under Assessment, Supported, Disputed, Resolved).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&amp; Provenance: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artifacts (photos, sensor data, official statements) tracking provenance chain, author credibility, and metadata.
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Contradiction Mapping: 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relational links (Supporting vs Contradictory) connecting competing observations directly in the graph.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Dispute Resolution Workflow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1945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Active Challenge Initiated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24231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verified community member can challenge an unverified claim by lodging a structured dispute with specific objection reasons.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3108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Counter-Evidence Submission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33375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must submit tangible counter-evidence (e.g. timestamped photo of clear road, sensor log) or link a contradictory observation.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0233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Community / Moderator Audit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42519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status switches to "Disputed" on live map and feeds, preventing emergency volunteers from acting on falsified rumors.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49377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Resolution &amp; Versioned Record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51663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Adjudicated claims are marked "Resolved" or "Outdated" with public reasoning, preserving full historical transparency.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TRANSPARENCY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Explainable 5-Factor Matcher Engine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multi-factor scoring providing auditable reasoning instead of black-box AI predictions.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Platform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Civic Coordination &amp; Mutual 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Location Proximity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Haversine formula (Great-Circle Distance)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74720" y="16916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Pass (&lt;=3 mi) | Warn (3-8 mi) | Fail (&gt;8 mi)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0" y="16916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Ensures rapid localized response without wasting transit time.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46888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Capability &amp; Skills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Exact and synonym skill intersection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0" y="2606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Pass (All required present) | Warn (Partial) | Fail (None)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0" y="2606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Avoids assigning dangerous tasks to unqualified personnel.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38328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Resource Terms &amp; Condition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794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Category matching + terms compatibility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74720" y="35204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Pass (Immediate/Lend/Donate) | Warn (Deposit required) | Fail (Incompatible)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35204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Prevents supply mismatches and regulatory hurdles.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29768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89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Temporal Availability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709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Time window &amp; on-call status check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0" y="4434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Pass (Immediate on-call) | Warn (Scheduled) | Fail (Expired)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44348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Guarantees that active requests receive timely deployment.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21208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303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Urgency &amp; Capacity Impact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5623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Triage prioritization &amp; provider load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74720" y="53492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Pass (Critical triage align) | Warn (Near capacity) | Fail (Overcommitted)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53492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Prioritizes life-safety requests before non-urgent projects.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Deliberative Plans &amp; Decision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chaotic community debates into structured, versioned, and actionable initiatives.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Platform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Civic Coordination &amp; Mutual 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291840" cy="4572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737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Lifecycle Stages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4884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Draft (Initial scope &amp; need)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Community Review (Public critique)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3. Revised (Incorporating feedback)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4. Accepted (Consensus reached)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5. Active (Execution &amp; milestones)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6. Completed (Post-mortem audit)
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3383280" cy="4572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7373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Feedback Types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30175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[Risk Alert] Identifies safety, legal, or logistical hazards.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[Alternative Proposal] Suggests more cost-effective approaches.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[Supporting Evidence] Attaches empirical data or vendor quotes.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[Constructive Critique] Notes unaddressed community edge cases.
</a:t>
            </a:r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[Endorsement / Support] Signals volunteer &amp; neighborhood backing.
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291840" cy="4572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737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Decision Trails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21040" y="2148840"/>
            <a:ext cx="29260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 Tagging (v1.0 -&gt; v1.1)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revision increments semver and records exact diff summaries.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Feedback Attribution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explicitly cite which community feedback IDs prompted the change.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Rationale Documentation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must document why alternatives were adopted or rejected.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Milestone Accountability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deadlines and owner statuses linked directly to execution.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Dive: Outcomes &amp; Institutional Guidance Engine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hard-won operational insights endure across future community initiatives.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Platform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Civic Coordination &amp; Mutual 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3474720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Structured Outcomes Evaluation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Empirical comparison: Intended Goals vs Actual Results.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Outcome Status categorization (Achieved, Partially Achieved, Not Achieved).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Documentation of unexpected side effects and bottleneck factors.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linkage to verified evidence and observation artifacts.
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554480"/>
            <a:ext cx="347472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43484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Codified Lessons Learned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33172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Extraction of root causes and logistical insights from completed projects.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Confidence scoring (High / Moderate / Experiential) for reproducibility.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Applicability tags (e.g. #flooding, #elderly_care, #food_distribution).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Active status lifecycle tracking with continuous community vetting.
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0" y="155448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1554480"/>
            <a:ext cx="347472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1645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Proactive Future Guidance Checklists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38160" y="2331720"/>
            <a:ext cx="31089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Context-aware search engine matching keywords, categories, and tags.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Generates actionable preparation checklists for newly drafted plans.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Phase-specific recommendations (Planning, Mobilization, Post-Action).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Eliminates duplicate mistakes across neighboring civic communities.
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Stack: Modern, Resilient &amp; Modular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 selected architecture designed for ultra-low latency, zero external lock-in, and offline resilience.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Platform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Civic Coordination &amp; Mutual 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0698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63040"/>
            <a:ext cx="2194560" cy="71323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45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Client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1554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 8, React Router 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08960" y="18470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reactive SPA with declarative routing, sub-second HMR, and addressable entity deep-linking.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267712"/>
            <a:ext cx="10698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267712"/>
            <a:ext cx="2194560" cy="71323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4505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&amp; Visuals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23591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1.9.4 &amp; OpenStreetMap, Lucide Icons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mapping with custom interactive pins; zero paid API keys, rate limits, or vendor lock-in.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072384"/>
            <a:ext cx="10698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072384"/>
            <a:ext cx="2194560" cy="71323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2552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Tokens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08960" y="31638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Vanilla Design System (index.css)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0" y="34564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Featherweight CSS variable token architecture; zero CSS framework bloat; glassmorphic civic UI.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3877056"/>
            <a:ext cx="10698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877056"/>
            <a:ext cx="2194560" cy="71323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05993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0" y="39684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(ESM) &amp; Express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0" y="426110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async request pipeline with unified REST endpoints, robust error middleware, and modular routers.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1520" y="4681728"/>
            <a:ext cx="10698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4681728"/>
            <a:ext cx="2194560" cy="71323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8646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108960" y="4773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better-sqlite3 (WAL Mode)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08960" y="506577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zero-latency relational engine; ACID integrity; embedded single-file resilience for disaster nodes.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31520" y="5486400"/>
            <a:ext cx="10698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5486400"/>
            <a:ext cx="2194560" cy="71323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669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Security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108960" y="5577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(jsonwebtoken) &amp; BcryptJS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108960" y="58704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cryptographic tokens with role-based access control (Admin, Moderator, Member, Organizer).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JUSTIFICATION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Architecture: Tool Choices &amp; Rationale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architectural justifications for React 19, Vite 8, React Router 7, Leaflet, and Lucide.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Platform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Civic Coordination &amp; Mutual 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19: Declarative Component Hierarchy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Effortless state synchronization across complex interactive inspectors (Evidence graphs, Plan revisions, Matcher scorecards).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Modern React hooks (useContext, useMemo, useCallback) maintain responsive 60fps UI during intensive map and feed filtering.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Vast ecosystem and universal developer familiarity for civic open-source contributions.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8: Next-Gen Build Tooling &amp; DX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05740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local dev server startup (&lt;300ms) powered by native ES modules.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Lightning-fast Hot Module Replacement (HMR) speeds up iterative UI development.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Highly optimized Rollup production bundling with tree-shaking for minimal bundle sizes.
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977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7: Entity-Addressable Deep Linking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34340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Enables direct bookmarking and emergency dispatch URL sharing (/observations/:id, /plans/:id, /requests/:id).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Flawless browser back/forward history navigation without losing modal or tab inspector context.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Decoupled routing architecture ready for future server-side rendering or static generation.
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384048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977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&amp; OSM: Sovereign Open Geospatial Tech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434340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mandatory API keys, billing accounts, or rate-limiting thresholds (unlike Google Maps or Mapbox).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Ultra-lightweight footprint (~40KB gzip) compatible with low-bandwidth emergency mobile devices.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Supports custom cached offline tile servers for emergency disaster response mesh networks.
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JUSTIFICATION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 Architecture: Tool Choices &amp; Rationale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architectural justifications for Node.js, Express 5, Better-SQLite3, and JWT.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Platform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Civic Coordination &amp; Mutual 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on Node.js: Lightweight &amp; Modern REST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First-class native Promise / async-await error propagation without unhandled rejection crashes.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language runtime (JavaScript / ESM) across frontend and backend eliminates mental context switching.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Featherweight resource footprint capable of running on edge devices (Raspberry Pi disaster nodes).
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Better-SQLite3 (WAL Mode): Zero-Latency Embedded Relational Power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205740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Synchronous in-process C++ binding eliminates inter-process network roundtrip overhead entirely.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Write-Ahead Logging (WAL) allows non-blocking concurrent readers while writes execute in atomic transactions.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Single-file database (caremesh.db) enables instantaneous backups, portability, and zero-config deployment.
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977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BcryptJS: Stateless Security &amp; Provenance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434340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Cryptographically signed tokens allow decentralized mesh nodes to verify identity without database lookup queries.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Bcrypt with adaptive cost factor securely hashes passwords against brute-force attacks.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authorization middleware seamlessly gates administrative actions (e.g. Dispute resolution).
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384048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977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Concurrently &amp; Tooling: Streamlined Single-Command DX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434340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command (npm run dev:all) boots Express REST API and Vite frontend with unified color-coded logging.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schema initialization and mock seeding scripts ensure instant onboarding for new contributors.
</a:t>
            </a:r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Integrated test runner (npm run server:test) validates all REST endpoints in seconds.
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Trade-Offs &amp; Strategic Decisions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CareMesh made conscious architectural trade-offs to prioritize trust, resilience, and operational simplicity.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Platform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Civic Coordination &amp; Mutual 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106984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vs PostgreSQL / Cloud DB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Better-SQLite3 with WAL Mode  |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Postgres / Firebase / Supabase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2057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Rationale: Sacrifices multi-region horizontal write sharding in exchange for 0-latency queries, zero cloud billing costs, single-file backups, and total offline disaster-hub resilience.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670048"/>
            <a:ext cx="106984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61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Rule Engine vs Deep Learning AI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035808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Multi-Factor Scoring (5 Dimensions)  |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Neural Recommender Systems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26440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Rationale: Sacrifices fuzzy statistical nuance in exchange for complete auditability, verifiable fairness, no AI hallucinations, and zero GPU infrastructure overhead.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877056"/>
            <a:ext cx="106984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68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OSM vs Google Maps / Mapbox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242816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1.9.4 with OpenStreetMap Tiles  |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JavaScript API / Mapbox GL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47141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Rationale: Sacrifices proprietary 3D satellite photogrammetry in exchange for 100% open-source sovereignty, zero vendor API billing cliffs, and offline tile cacheability.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5084064"/>
            <a:ext cx="1069848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1755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Token CSS vs Heavy UI Libraries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5449824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System with Design Variables  |  </a:t>
            </a:r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JIT / Material UI / Bootstrap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567842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Rationale: Requires writing targeted CSS rules but eliminates thousands of unused CSS classes, avoids heavy build pipeline dependencies, and guarantees instant style rendering.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DEPLOYMENT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Quickstart &amp; Verification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Running, testing, and verifying CareMesh in local development environments.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Platform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Civic Coordination &amp; Mutual 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Quickstart Terminal Commands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14884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Clone repository &amp; enter workspace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https://github.com/caremesh/caremesh.git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caremesh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Install all dependencies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Start Backend &amp; Frontend concurrently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dev:all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Run automated test suite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server:test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21208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Endpoints &amp; Verification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Frontend Web UI  (http://localhost:5173)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23774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SPA with full Leaflet map, Plan inspector, and Social Hub.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92240" y="295351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REST Backend  (http://localhost:3001)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92240" y="31821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JSON API serving all normalized database resources.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0" y="3758184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Endpoint  (GET /api/health)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398678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API server status, uptime timestamp, and service metadata.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92240" y="4562856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Aggregate API  (GET /api/bootstrap)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92240" y="479145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full dataset hydration in a single atomic request.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92240" y="536752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Suite  (test-backend.js)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55961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14 automated integration tests verifying all critical routes.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Roadmap: Next-Gen Civic Resilience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expansion trajectory towards fully decentralized, cryptographic, and federated mutual aid.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Platform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0" y="6446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Civic Coordination &amp; Mutual Aid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554480"/>
            <a:ext cx="347472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459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Near-Term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8470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P2P Mesh Sync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7744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Conflict-Free Replicated Data Types (CRDTs) and WebRTC data channels to allow mesh peer-to-peer sync when internet backhauls go dark.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55448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554480"/>
            <a:ext cx="3474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6459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Mid-Term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18470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Provenance (DID &amp; Verifiable Credentials)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26280" y="237744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responders and organizations to sign observations and credential badges using W3C Decentralized Identifiers (DIDs) for tamper-proof trust.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1554480"/>
            <a:ext cx="3474720" cy="45720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1554480"/>
            <a:ext cx="347472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16459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Long-Term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18470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Inter-Community Protocols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38160" y="237744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adjacent townships and regional mutual aid networks to securely cross-reference surplus resources and mutual aid requests across sovereign mesh instances.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CareMesh 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verifiable, transparent, and resilient blueprint for community action.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10332720" cy="749808"/>
          </a:xfrm>
          <a:prstGeom prst="roundRect">
            <a:avLst>
              <a:gd name="adj" fmla="val 12195"/>
            </a:avLst>
          </a:prstGeom>
          <a:solidFill>
            <a:srgbClr val="065F4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299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Epistemic Grounding: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20299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unverified claims. Observations tie to empirical evidence and active contradiction audits.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697480"/>
            <a:ext cx="10332720" cy="749808"/>
          </a:xfrm>
          <a:prstGeom prst="roundRect">
            <a:avLst>
              <a:gd name="adj" fmla="val 12195"/>
            </a:avLst>
          </a:prstGeom>
          <a:solidFill>
            <a:srgbClr val="065F4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986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Explainable Matching: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0" y="289864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transparent 5-factor scoring replaces biased black-box recommendation models.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566160"/>
            <a:ext cx="10332720" cy="749808"/>
          </a:xfrm>
          <a:prstGeom prst="roundRect">
            <a:avLst>
              <a:gd name="adj" fmla="val 12195"/>
            </a:avLst>
          </a:prstGeom>
          <a:solidFill>
            <a:srgbClr val="065F4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76732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Deliberative Governance: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0" y="376732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plan lifecycles, categorized critique incorporation, and immutable decision logs.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434840"/>
            <a:ext cx="10332720" cy="749808"/>
          </a:xfrm>
          <a:prstGeom prst="roundRect">
            <a:avLst>
              <a:gd name="adj" fmla="val 12195"/>
            </a:avLst>
          </a:prstGeom>
          <a:solidFill>
            <a:srgbClr val="065F4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6360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Living Institutional Memory: 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463600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evaluation automatically codifies lessons to guide future generations of civic responders.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5303520"/>
            <a:ext cx="10332720" cy="749808"/>
          </a:xfrm>
          <a:prstGeom prst="roundRect">
            <a:avLst>
              <a:gd name="adj" fmla="val 12195"/>
            </a:avLst>
          </a:prstGeom>
          <a:solidFill>
            <a:srgbClr val="065F46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504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Ultra-Resilient Stack: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550468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Express 5, Better-SQLite3, and Leaflet deliver high-speed, zero-cost, edge-portable civic tech.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CareMesh Civic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CareMesh: Verified Civic Coordination &amp; Mutual Aid Platform</dc:title>
  <dc:subject>Objectives, System Architecture, Tools &amp; Technology Choices</dc:subject>
  <dc:creator>CareMesh Engineering &amp; Core Team</dc:creator>
  <cp:lastModifiedBy>CareMesh Engineering &amp; Core Team</cp:lastModifiedBy>
  <cp:revision>1</cp:revision>
  <dcterms:created xsi:type="dcterms:W3CDTF">2026-08-29T18:31:56Z</dcterms:created>
  <dcterms:modified xsi:type="dcterms:W3CDTF">2026-08-29T18:31:56Z</dcterms:modified>
</cp:coreProperties>
</file>